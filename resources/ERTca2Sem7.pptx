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Varela Round" charset="1" panose="00000500000000000000"/>
      <p:regular r:id="rId24"/>
    </p:embeddedFont>
    <p:embeddedFont>
      <p:font typeface="Fredoka" charset="1" panose="020000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5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embeddings/oleObject2.bin" Type="http://schemas.openxmlformats.org/officeDocument/2006/relationships/oleObjec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7.png" Type="http://schemas.openxmlformats.org/officeDocument/2006/relationships/image"/><Relationship Id="rId7" Target="../embeddings/oleObject3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1.png" Type="http://schemas.openxmlformats.org/officeDocument/2006/relationships/image"/><Relationship Id="rId7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5663998" y="8371353"/>
            <a:ext cx="6442784" cy="905472"/>
            <a:chOff x="0" y="0"/>
            <a:chExt cx="1696865" cy="2384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96865" cy="238478"/>
            </a:xfrm>
            <a:custGeom>
              <a:avLst/>
              <a:gdLst/>
              <a:ahLst/>
              <a:cxnLst/>
              <a:rect r="r" b="b" t="t" l="l"/>
              <a:pathLst>
                <a:path h="238478" w="1696865">
                  <a:moveTo>
                    <a:pt x="68494" y="0"/>
                  </a:moveTo>
                  <a:lnTo>
                    <a:pt x="1628371" y="0"/>
                  </a:lnTo>
                  <a:cubicBezTo>
                    <a:pt x="1666199" y="0"/>
                    <a:pt x="1696865" y="30666"/>
                    <a:pt x="1696865" y="68494"/>
                  </a:cubicBezTo>
                  <a:lnTo>
                    <a:pt x="1696865" y="169985"/>
                  </a:lnTo>
                  <a:cubicBezTo>
                    <a:pt x="1696865" y="207813"/>
                    <a:pt x="1666199" y="238478"/>
                    <a:pt x="1628371" y="238478"/>
                  </a:cubicBezTo>
                  <a:lnTo>
                    <a:pt x="68494" y="238478"/>
                  </a:lnTo>
                  <a:cubicBezTo>
                    <a:pt x="50328" y="238478"/>
                    <a:pt x="32906" y="231262"/>
                    <a:pt x="20061" y="218417"/>
                  </a:cubicBezTo>
                  <a:cubicBezTo>
                    <a:pt x="7216" y="205572"/>
                    <a:pt x="0" y="188150"/>
                    <a:pt x="0" y="169985"/>
                  </a:cubicBezTo>
                  <a:lnTo>
                    <a:pt x="0" y="68494"/>
                  </a:lnTo>
                  <a:cubicBezTo>
                    <a:pt x="0" y="30666"/>
                    <a:pt x="30666" y="0"/>
                    <a:pt x="68494" y="0"/>
                  </a:cubicBezTo>
                  <a:close/>
                </a:path>
              </a:pathLst>
            </a:custGeom>
            <a:solidFill>
              <a:srgbClr val="EBF0FF"/>
            </a:solidFill>
            <a:ln w="38100" cap="rnd">
              <a:solidFill>
                <a:srgbClr val="7A95B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696865" cy="2861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  <a:r>
                <a:rPr lang="en-US" sz="2069">
                  <a:solidFill>
                    <a:srgbClr val="3C3C8C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An AI-Powered ADDICTION PREVENTION SUPPORT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191238" y="150617"/>
            <a:ext cx="3905525" cy="3905525"/>
          </a:xfrm>
          <a:custGeom>
            <a:avLst/>
            <a:gdLst/>
            <a:ahLst/>
            <a:cxnLst/>
            <a:rect r="r" b="b" t="t" l="l"/>
            <a:pathLst>
              <a:path h="3905525" w="3905525">
                <a:moveTo>
                  <a:pt x="0" y="0"/>
                </a:moveTo>
                <a:lnTo>
                  <a:pt x="3905524" y="0"/>
                </a:lnTo>
                <a:lnTo>
                  <a:pt x="3905524" y="3905525"/>
                </a:lnTo>
                <a:lnTo>
                  <a:pt x="0" y="39055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668325" y="3712836"/>
            <a:ext cx="12951349" cy="196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SOBERTONE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62982" y="5592297"/>
            <a:ext cx="10162036" cy="762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PITCH DECK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025894" y="5532990"/>
            <a:ext cx="11976571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Relapse rates exceed </a:t>
            </a: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60%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due to lack of real-time emotional support.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987524" y="2285008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5894" y="4107213"/>
            <a:ext cx="11585716" cy="539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350M+</a:t>
            </a: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people worldwide struggle with addiction.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25894" y="7107311"/>
            <a:ext cx="1137326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Existing rehab and therapy options are expensive, inaccessible, and impersonal.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81742"/>
            <a:ext cx="11585716" cy="16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Sobertone: An AI-driven mobile app that uses personalized voice-based interaction to guide users through cravings and triggers.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5964691"/>
            <a:ext cx="11976571" cy="1717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Users can choose a familiar, comforting voice (friend/family) to receive tailored support messages and guidance.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2810806" y="0"/>
            <a:ext cx="6761880" cy="10287000"/>
          </a:xfrm>
          <a:custGeom>
            <a:avLst/>
            <a:gdLst/>
            <a:ahLst/>
            <a:cxnLst/>
            <a:rect r="r" b="b" t="t" l="l"/>
            <a:pathLst>
              <a:path h="10287000" w="6761880">
                <a:moveTo>
                  <a:pt x="0" y="0"/>
                </a:moveTo>
                <a:lnTo>
                  <a:pt x="6761880" y="0"/>
                </a:lnTo>
                <a:lnTo>
                  <a:pt x="67618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5733" t="0" r="-26399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987524" y="2285008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SOBERTONE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120734"/>
            <a:ext cx="1137326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Combines emotional AI + CBT-based behavior modeling.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0198" y="3035307"/>
            <a:ext cx="1140028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Target TAM (Global Addiction Treatment Market): </a:t>
            </a: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$35B+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(growing at </a:t>
            </a: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6.5% CAGR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18114" y="1518783"/>
            <a:ext cx="1271788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MARKET OPPORTUNITY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9902" y="2978157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0198" y="5086350"/>
            <a:ext cx="11400286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SAM (India &amp; SE Asia): </a:t>
            </a: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$4.8B.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89902" y="5029200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2.</a:t>
            </a:r>
          </a:p>
        </p:txBody>
      </p:sp>
      <p:sp>
        <p:nvSpPr>
          <p:cNvPr name="AutoShape 8" id="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20198" y="6585422"/>
            <a:ext cx="1140028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SOM (Initial Focus): </a:t>
            </a: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₹200 Cr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potential user base in India’s digital wellness segment.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9902" y="6528272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20198" y="8169268"/>
            <a:ext cx="1140028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Increasing smartphone usage + rising acceptance of digital therapy apps.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9902" y="8027343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4.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0198" y="3035307"/>
            <a:ext cx="1140028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Freemium Model: Free access + premium subscription (₹1,500/month).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18114" y="1518783"/>
            <a:ext cx="1271788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MARKET STRATEGY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9902" y="2978157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94072" y="4638987"/>
            <a:ext cx="11400286" cy="28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User Acquisition Channels: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Partnerships with rehab centers &amp; universities.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Influencer campaigns on Instagram/YouTube.</a:t>
            </a:r>
          </a:p>
          <a:p>
            <a:pPr algn="l" marL="705747" indent="-352873" lvl="1">
              <a:lnSpc>
                <a:spcPts val="4576"/>
              </a:lnSpc>
              <a:spcBef>
                <a:spcPct val="0"/>
              </a:spcBef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Referral incentives for users.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89902" y="4803073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2.</a:t>
            </a:r>
          </a:p>
        </p:txBody>
      </p:sp>
      <p:sp>
        <p:nvSpPr>
          <p:cNvPr name="AutoShape 8" id="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94072" y="7544983"/>
            <a:ext cx="1140028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Retention: Gamified habit tracking, streak rewards, and voice personalization.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9902" y="7369454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3.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20198" y="3035307"/>
            <a:ext cx="11400286" cy="2879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Revenue Streams: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Premium Subscriptions (B2C)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Enterprise Wellness Partnerships (B2B)</a:t>
            </a:r>
          </a:p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In-app AI voice licensing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3318114" y="1518783"/>
            <a:ext cx="1271788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BUSINESS MODEL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89902" y="2978157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1.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920198" y="5977994"/>
            <a:ext cx="11400286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Pricing: ₹1,500/month premium subscription.</a:t>
            </a:r>
          </a:p>
          <a:p>
            <a:pPr algn="l">
              <a:lnSpc>
                <a:spcPts val="457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89902" y="5723742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2.</a:t>
            </a:r>
          </a:p>
        </p:txBody>
      </p:sp>
      <p:sp>
        <p:nvSpPr>
          <p:cNvPr name="AutoShape 8" id="8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20198" y="7177606"/>
            <a:ext cx="11400286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Gross Margin: 70%.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89902" y="6887611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3.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20198" y="8317337"/>
            <a:ext cx="11400286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CLV:CAC Ratio: 11.25:1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489902" y="8027343"/>
            <a:ext cx="1204169" cy="107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C3C8C"/>
                </a:solidFill>
                <a:latin typeface="Varela Round"/>
                <a:ea typeface="Varela Round"/>
                <a:cs typeface="Varela Round"/>
                <a:sym typeface="Varela Round"/>
              </a:rPr>
              <a:t>4.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2685091" y="2890094"/>
          <a:ext cx="7543800" cy="3771900"/>
        </p:xfrm>
        <a:graphic>
          <a:graphicData uri="http://schemas.openxmlformats.org/presentationml/2006/ole">
            <p:oleObj imgW="9042400" imgH="5270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203894" y="1145177"/>
            <a:ext cx="14010362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FINANCIAL PROJECTIONS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16165" y="1745602"/>
            <a:ext cx="1494313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VALUATION(PRE-REVENUE)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1823" y="3655141"/>
            <a:ext cx="14130135" cy="16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We used Berkus Method because it emphasizes qualitative risk reduction milestones — idea, team, prototype, and traction — which accurately reflect Sobertone’s current development stage.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19908" y="6301173"/>
            <a:ext cx="14130135" cy="2298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We used Scorecard Method to complement this by benchmarking Sobertone against comparable early-stage AI wellness startups in India, adjusting valuation based on relative strengths and weaknesses.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3563086" y="2971317"/>
          <a:ext cx="7543800" cy="4400550"/>
        </p:xfrm>
        <a:graphic>
          <a:graphicData uri="http://schemas.openxmlformats.org/presentationml/2006/ole">
            <p:oleObj imgW="9042400" imgH="59055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821514" y="876300"/>
            <a:ext cx="1494313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BERKUS METHOD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Object 5" id="5"/>
          <p:cNvGraphicFramePr/>
          <p:nvPr/>
        </p:nvGraphicFramePr>
        <p:xfrm>
          <a:off x="2874504" y="2879892"/>
          <a:ext cx="9429750" cy="5657850"/>
        </p:xfrm>
        <a:graphic>
          <a:graphicData uri="http://schemas.openxmlformats.org/presentationml/2006/ole">
            <p:oleObj imgW="11315700" imgH="75438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271121" y="915900"/>
            <a:ext cx="14943135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SCORECARD METHOD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7524" y="2285008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ASK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19908" y="4623995"/>
            <a:ext cx="3643014" cy="109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Ask: </a:t>
            </a:r>
            <a:r>
              <a:rPr lang="en-US" sz="3119">
                <a:solidFill>
                  <a:srgbClr val="9063CD"/>
                </a:solidFill>
                <a:latin typeface="Varela Round"/>
                <a:ea typeface="Varela Round"/>
                <a:cs typeface="Varela Round"/>
                <a:sym typeface="Varela Round"/>
              </a:rPr>
              <a:t>₹1 Cr</a:t>
            </a: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Seed Round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01823" y="5963994"/>
            <a:ext cx="11976571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Pre-Money Valuation: </a:t>
            </a:r>
            <a:r>
              <a:rPr lang="en-US" sz="3268">
                <a:solidFill>
                  <a:srgbClr val="9063CD"/>
                </a:solidFill>
                <a:latin typeface="Varela Round"/>
                <a:ea typeface="Varela Round"/>
                <a:cs typeface="Varela Round"/>
                <a:sym typeface="Varela Round"/>
              </a:rPr>
              <a:t>₹3.25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Cred support messages and guidance.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1823" y="8375041"/>
            <a:ext cx="11373266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Post-Money Valuation: </a:t>
            </a:r>
            <a:r>
              <a:rPr lang="en-US" sz="3268">
                <a:solidFill>
                  <a:srgbClr val="9063CD"/>
                </a:solidFill>
                <a:latin typeface="Varela Round"/>
                <a:ea typeface="Varela Round"/>
                <a:cs typeface="Varela Round"/>
                <a:sym typeface="Varela Round"/>
              </a:rPr>
              <a:t>₹4.25 Cr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1823" y="7347815"/>
            <a:ext cx="1197657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Equity Offered: </a:t>
            </a:r>
            <a:r>
              <a:rPr lang="en-US" sz="3268">
                <a:solidFill>
                  <a:srgbClr val="9063CD"/>
                </a:solidFill>
                <a:latin typeface="Varela Round"/>
                <a:ea typeface="Varela Round"/>
                <a:cs typeface="Varela Round"/>
                <a:sym typeface="Varela Round"/>
              </a:rPr>
              <a:t>~23.5%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7524" y="2285008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USE OF FUND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1823" y="4961720"/>
            <a:ext cx="4688850" cy="109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40%</a:t>
            </a: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Product &amp; AI Development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01823" y="6254506"/>
            <a:ext cx="1197657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35%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Marketing &amp; Partnerships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1823" y="8375041"/>
            <a:ext cx="11373266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10%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 Operations &amp; Infrastructure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1823" y="7347815"/>
            <a:ext cx="1197657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5A67D8"/>
                </a:solidFill>
                <a:latin typeface="Varela Round"/>
                <a:ea typeface="Varela Round"/>
                <a:cs typeface="Varela Round"/>
                <a:sym typeface="Varela Round"/>
              </a:rPr>
              <a:t>15% </a:t>
            </a: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Team Expansion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408082"/>
            <a:ext cx="16903887" cy="127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1"/>
              </a:lnSpc>
            </a:pPr>
            <a:r>
              <a:rPr lang="en-US" sz="7486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INVESTOR TARGETING STRATEGY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21091" y="4323265"/>
            <a:ext cx="9256151" cy="470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Ideal Investor Profile: Angel / Micro-VCs focusing on AI, HealthTech, and social impact.</a:t>
            </a:r>
          </a:p>
          <a:p>
            <a:pPr algn="l">
              <a:lnSpc>
                <a:spcPts val="4665"/>
              </a:lnSpc>
            </a:pPr>
          </a:p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Cheque Size: ₹50L–₹2Cr</a:t>
            </a:r>
          </a:p>
          <a:p>
            <a:pPr algn="l">
              <a:lnSpc>
                <a:spcPts val="4665"/>
              </a:lnSpc>
            </a:pPr>
          </a:p>
          <a:p>
            <a:pPr algn="l">
              <a:lnSpc>
                <a:spcPts val="4665"/>
              </a:lnSpc>
            </a:pPr>
            <a:r>
              <a:rPr lang="en-US" sz="3332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Value Add: Mentorship, healthtech network access, AI expertise..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821514" y="3424868"/>
          <a:ext cx="14458155" cy="4352925"/>
        </p:xfrm>
        <a:graphic>
          <a:graphicData uri="http://schemas.openxmlformats.org/drawingml/2006/table">
            <a:tbl>
              <a:tblPr/>
              <a:tblGrid>
                <a:gridCol w="4819385"/>
                <a:gridCol w="4819385"/>
                <a:gridCol w="4819385"/>
              </a:tblGrid>
              <a:tr h="79755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C3C8C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Investor / Firm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3C3C8C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Type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3C3C8C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Rationale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0FF"/>
                    </a:solidFill>
                  </a:tcPr>
                </a:tc>
              </a:tr>
              <a:tr h="711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LetsVenture Angels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Angel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Early AI wellness focus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Better Capital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Seed VC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AI SaaS &amp; wellness interest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Indian Angel Network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Angel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Large investor base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Venture Catalysts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Angel+VC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Social-impact focus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107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Blue Ashva Capital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Impact VC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Varela Round"/>
                          <a:ea typeface="Varela Round"/>
                          <a:cs typeface="Varela Round"/>
                          <a:sym typeface="Varela Round"/>
                        </a:rPr>
                        <a:t>Wellness &amp; sustainability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0" y="1493082"/>
            <a:ext cx="16903887" cy="1276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81"/>
              </a:lnSpc>
            </a:pPr>
            <a:r>
              <a:rPr lang="en-US" sz="7486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INVESTOR TARGET LIST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7524" y="876300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EXIT STRATEGY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68188" y="2912993"/>
            <a:ext cx="13612434" cy="274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6"/>
              </a:lnSpc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Potential Exit Paths:</a:t>
            </a:r>
          </a:p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Acquisition by major health-tech or AI wellness platforms (e.g., Headspace, Calm).</a:t>
            </a:r>
          </a:p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Strategic buyout by healthcare corporations entering digital mental wellness.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8188" y="6316419"/>
            <a:ext cx="1197657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Expected Horizon: 5–7 years.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68188" y="7343645"/>
            <a:ext cx="1197657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Projected Exit Multiple: 6–8x for early investors.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7524" y="2285008"/>
            <a:ext cx="12226733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COMPETITIVE EDGE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1823" y="4961720"/>
            <a:ext cx="11373266" cy="1092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Emotional AI + Familiar Voice Tech (unique IP)</a:t>
            </a:r>
          </a:p>
          <a:p>
            <a:pPr algn="l">
              <a:lnSpc>
                <a:spcPts val="436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01823" y="6254506"/>
            <a:ext cx="1197657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Hybrid of psychology + technology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1823" y="7347815"/>
            <a:ext cx="1424822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High retention and low CAC via community-driven approach.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7524" y="1483557"/>
            <a:ext cx="12226733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>
                <a:solidFill>
                  <a:srgbClr val="3C3C8C"/>
                </a:solidFill>
                <a:latin typeface="Fredoka"/>
                <a:ea typeface="Fredoka"/>
                <a:cs typeface="Fredoka"/>
                <a:sym typeface="Fredoka"/>
              </a:rPr>
              <a:t>TEAM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01823" y="3200405"/>
            <a:ext cx="14248221" cy="1644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3419" indent="-336709" lvl="1">
              <a:lnSpc>
                <a:spcPts val="4366"/>
              </a:lnSpc>
              <a:buFont typeface="Arial"/>
              <a:buChar char="•"/>
            </a:pPr>
            <a:r>
              <a:rPr lang="en-US" sz="3119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Ankit Jangir – Founder &amp; CEO (AI/ML Specialist, Behavioral Psychology Enthusiast)</a:t>
            </a:r>
          </a:p>
          <a:p>
            <a:pPr algn="l">
              <a:lnSpc>
                <a:spcPts val="4366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01823" y="5086350"/>
            <a:ext cx="11976571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Ayush(Tech Lead) – Responsible for AI voice engine and app architecture.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01823" y="8571884"/>
            <a:ext cx="14248221" cy="555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Rao Krishna (Advisor) – Mental Health Enthusiast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01823" y="6645430"/>
            <a:ext cx="11976571" cy="113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747" indent="-352873" lvl="1">
              <a:lnSpc>
                <a:spcPts val="4576"/>
              </a:lnSpc>
              <a:buFont typeface="Arial"/>
              <a:buChar char="•"/>
            </a:pPr>
            <a:r>
              <a:rPr lang="en-US" sz="3268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Vikas kumar(Marketing Specialist)– Responsible for social media and all forms of marketing.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573120" y="4051369"/>
            <a:ext cx="12951349" cy="1965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>
                <a:gradFill>
                  <a:gsLst>
                    <a:gs pos="0">
                      <a:srgbClr val="3C3C8C">
                        <a:alpha val="100000"/>
                      </a:srgbClr>
                    </a:gs>
                    <a:gs pos="100000">
                      <a:srgbClr val="DA7EC7">
                        <a:alpha val="100000"/>
                      </a:srgbClr>
                    </a:gs>
                  </a:gsLst>
                  <a:lin ang="0"/>
                </a:gradFill>
                <a:latin typeface="Fredoka"/>
                <a:ea typeface="Fredoka"/>
                <a:cs typeface="Fredoka"/>
                <a:sym typeface="Fredoka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9063C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4377483" y="364919"/>
            <a:ext cx="3905525" cy="3905525"/>
          </a:xfrm>
          <a:custGeom>
            <a:avLst/>
            <a:gdLst/>
            <a:ahLst/>
            <a:cxnLst/>
            <a:rect r="r" b="b" t="t" l="l"/>
            <a:pathLst>
              <a:path h="3905525" w="3905525">
                <a:moveTo>
                  <a:pt x="0" y="0"/>
                </a:moveTo>
                <a:lnTo>
                  <a:pt x="3905524" y="0"/>
                </a:lnTo>
                <a:lnTo>
                  <a:pt x="3905524" y="3905525"/>
                </a:lnTo>
                <a:lnTo>
                  <a:pt x="0" y="39055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967454" y="0"/>
            <a:ext cx="8270052" cy="10287000"/>
          </a:xfrm>
          <a:custGeom>
            <a:avLst/>
            <a:gdLst/>
            <a:ahLst/>
            <a:cxnLst/>
            <a:rect r="r" b="b" t="t" l="l"/>
            <a:pathLst>
              <a:path h="10287000" w="8270052">
                <a:moveTo>
                  <a:pt x="0" y="0"/>
                </a:moveTo>
                <a:lnTo>
                  <a:pt x="8270052" y="0"/>
                </a:lnTo>
                <a:lnTo>
                  <a:pt x="82700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2194" t="0" r="-1219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14256" y="9010078"/>
            <a:ext cx="1271574" cy="81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>
                <a:solidFill>
                  <a:srgbClr val="333333"/>
                </a:solidFill>
                <a:latin typeface="Varela Round"/>
                <a:ea typeface="Varela Round"/>
                <a:cs typeface="Varela Round"/>
                <a:sym typeface="Varela Roun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DAG18cTpTOo</dc:identifier>
  <dcterms:modified xsi:type="dcterms:W3CDTF">2011-08-01T06:04:30Z</dcterms:modified>
  <cp:revision>1</cp:revision>
  <dc:title>Grey Minimalist Professional Project Presentation</dc:title>
</cp:coreProperties>
</file>